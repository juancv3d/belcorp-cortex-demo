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nowflake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65760"/>
            <a:ext cx="2011680" cy="4596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Cortex Code Masterclass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71D3DC"/>
                </a:solidFill>
                <a:latin typeface="Calibri"/>
              </a:rPr>
              <a:t>Del User Story al Pull Request con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274320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A999E"/>
                </a:solidFill>
                <a:latin typeface="Calibri"/>
              </a:rPr>
              <a:t>Belcorp  •  Data Strategy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999E"/>
                </a:solidFill>
                <a:latin typeface="Calibri"/>
              </a:rPr>
              <a:t>Snowflake  •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1567F"/>
                </a:solidFill>
                <a:latin typeface="Calibri"/>
              </a:rPr>
              <a:t>Que es Cortex Code?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943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B5B5B"/>
                </a:solidFill>
                <a:latin typeface="Calibri"/>
              </a:rPr>
              <a:t>AI coding agent nativo de Snowflake que vive en tu terminal.
Conectado directamente a tus datos, sin extraer nada.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29B5E8"/>
                </a:solidFill>
                <a:latin typeface="Calibri"/>
              </a:rPr>
              <a:t>•  </a:t>
            </a:r>
            <a:r>
              <a:rPr sz="1600">
                <a:solidFill>
                  <a:srgbClr val="5B5B5B"/>
                </a:solidFill>
                <a:latin typeface="Calibri"/>
              </a:rPr>
              <a:t>Entiende tu warehouse: tablas, columnas, tipos, relaciones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29B5E8"/>
                </a:solidFill>
                <a:latin typeface="Calibri"/>
              </a:rPr>
              <a:t>•  </a:t>
            </a:r>
            <a:r>
              <a:rPr sz="1600">
                <a:solidFill>
                  <a:srgbClr val="5B5B5B"/>
                </a:solidFill>
                <a:latin typeface="Calibri"/>
              </a:rPr>
              <a:t>Ejecuta SQL en tiempo real y valida resultados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29B5E8"/>
                </a:solidFill>
                <a:latin typeface="Calibri"/>
              </a:rPr>
              <a:t>•  </a:t>
            </a:r>
            <a:r>
              <a:rPr sz="1600">
                <a:solidFill>
                  <a:srgbClr val="5B5B5B"/>
                </a:solidFill>
                <a:latin typeface="Calibri"/>
              </a:rPr>
              <a:t>Lee y escribe codigo: SQL, Python, dbt, YAML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29B5E8"/>
                </a:solidFill>
                <a:latin typeface="Calibri"/>
              </a:rPr>
              <a:t>•  </a:t>
            </a:r>
            <a:r>
              <a:rPr sz="1600">
                <a:solidFill>
                  <a:srgbClr val="5B5B5B"/>
                </a:solidFill>
                <a:latin typeface="Calibri"/>
              </a:rPr>
              <a:t>Se conecta a GitHub, Jira, Confluence via MCP o CLI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29B5E8"/>
                </a:solidFill>
                <a:latin typeface="Calibri"/>
              </a:rPr>
              <a:t>•  </a:t>
            </a:r>
            <a:r>
              <a:rPr sz="1600">
                <a:solidFill>
                  <a:srgbClr val="5B5B5B"/>
                </a:solidFill>
                <a:latin typeface="Calibri"/>
              </a:rPr>
              <a:t>Planifica tareas, genera tests, crea Pull Requests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280160"/>
            <a:ext cx="4114800" cy="4389120"/>
          </a:xfrm>
          <a:prstGeom prst="roundRect">
            <a:avLst/>
          </a:prstGeom>
          <a:solidFill>
            <a:srgbClr val="00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64592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9B5E8"/>
                </a:solidFill>
                <a:latin typeface="Calibri"/>
              </a:rPr>
              <a:t>Diferenciador clave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8600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No es un chatbot generico.
Esta conectado a TUS datos
en Snowflake y ejecuta
acciones reales.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3840480"/>
            <a:ext cx="3383280" cy="457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411480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71D3DC"/>
                </a:solidFill>
                <a:latin typeface="Calibri"/>
              </a:rPr>
              <a:t>#TABLA → inyecta metadata
SQL Execute → valida en vivo
gh CLI → crea PRs directo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A999E"/>
                </a:solidFill>
                <a:latin typeface="Calibri"/>
              </a:rPr>
              <a:t>CLI  •  Modelos Cortex  •  Extensible con Skills, Agents y MCP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1567F"/>
                </a:solidFill>
                <a:latin typeface="Calibri"/>
              </a:rPr>
              <a:t>Capacidades Clave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474720" cy="22860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347472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544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1567F"/>
                </a:solidFill>
                <a:latin typeface="Calibri"/>
              </a:rPr>
              <a:t>#TABLE Syntax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3017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5B5B"/>
                </a:solidFill>
                <a:latin typeface="Calibri"/>
              </a:rPr>
              <a:t>Inyecta metadata de tablas
al prompt: columnas, tipos,
PKs, sample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474720" cy="22860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347472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1554480"/>
            <a:ext cx="548640" cy="54864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5544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1567F"/>
                </a:solidFill>
                <a:latin typeface="Calibri"/>
              </a:rPr>
              <a:t>Custom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017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5B5B"/>
                </a:solidFill>
                <a:latin typeface="Calibri"/>
              </a:rPr>
              <a:t>Archivos .md que estandarizan
flujos y plantillas para
tu equipo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3474720" cy="22860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47472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66760" y="1554480"/>
            <a:ext cx="548640" cy="54864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5544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1567F"/>
                </a:solidFill>
                <a:latin typeface="Calibri"/>
              </a:rPr>
              <a:t>SQL Execute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286000"/>
            <a:ext cx="3017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5B5B"/>
                </a:solidFill>
                <a:latin typeface="Calibri"/>
              </a:rPr>
              <a:t>Ejecuta y valida queries
en tiempo real contra
Snowflake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40480"/>
            <a:ext cx="3474720" cy="22860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40480"/>
            <a:ext cx="347472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114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1567F"/>
                </a:solidFill>
                <a:latin typeface="Calibri"/>
              </a:rPr>
              <a:t>Multi-conexion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3017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5B5B"/>
                </a:solidFill>
                <a:latin typeface="Calibri"/>
              </a:rPr>
              <a:t>DEV / QA / PRD desde
un solo lugar via
connections.toml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840480"/>
            <a:ext cx="3474720" cy="22860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840480"/>
            <a:ext cx="347472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72000" y="4114800"/>
            <a:ext cx="548640" cy="54864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114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1567F"/>
                </a:solidFill>
                <a:latin typeface="Calibri"/>
              </a:rPr>
              <a:t>GitHub (gh CLI)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846320"/>
            <a:ext cx="3017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5B5B"/>
                </a:solidFill>
                <a:latin typeface="Calibri"/>
              </a:rPr>
              <a:t>Crea branches, commits
y Pull Requests
automaticamente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840480"/>
            <a:ext cx="3474720" cy="22860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3840480"/>
            <a:ext cx="347472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66760" y="4114800"/>
            <a:ext cx="548640" cy="54864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4114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1567F"/>
                </a:solidFill>
                <a:latin typeface="Calibri"/>
              </a:rPr>
              <a:t>Task Tracking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846320"/>
            <a:ext cx="3017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5B5B"/>
                </a:solidFill>
                <a:latin typeface="Calibri"/>
              </a:rPr>
              <a:t>cortex ctx: planifica,
rastrea progreso y
gestiona pasos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1567F"/>
                </a:solidFill>
                <a:latin typeface="Calibri"/>
              </a:rPr>
              <a:t>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120640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1567F"/>
                </a:solidFill>
                <a:latin typeface="Calibri"/>
              </a:rPr>
              <a:t>Caso 1: Business-to-Engineering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29B5E8"/>
                </a:solidFill>
                <a:latin typeface="Calibri"/>
              </a:rPr>
              <a:t>•  </a:t>
            </a:r>
            <a:r>
              <a:rPr sz="1500">
                <a:solidFill>
                  <a:srgbClr val="5B5B5B"/>
                </a:solidFill>
                <a:latin typeface="Calibri"/>
              </a:rPr>
              <a:t>User Story → Refinamiento con AI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29B5E8"/>
                </a:solidFill>
                <a:latin typeface="Calibri"/>
              </a:rPr>
              <a:t>•  </a:t>
            </a:r>
            <a:r>
              <a:rPr sz="1500">
                <a:solidFill>
                  <a:srgbClr val="5B5B5B"/>
                </a:solidFill>
                <a:latin typeface="Calibri"/>
              </a:rPr>
              <a:t>Historia de Usuario → Historia Tecnica + SQL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29B5E8"/>
                </a:solidFill>
                <a:latin typeface="Calibri"/>
              </a:rPr>
              <a:t>•  </a:t>
            </a:r>
            <a:r>
              <a:rPr sz="1500">
                <a:solidFill>
                  <a:srgbClr val="5B5B5B"/>
                </a:solidFill>
                <a:latin typeface="Calibri"/>
              </a:rPr>
              <a:t>Generacion automatica de Test Cases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29B5E8"/>
                </a:solidFill>
                <a:latin typeface="Calibri"/>
              </a:rPr>
              <a:t>•  </a:t>
            </a:r>
            <a:r>
              <a:rPr sz="1500">
                <a:solidFill>
                  <a:srgbClr val="5B5B5B"/>
                </a:solidFill>
                <a:latin typeface="Calibri"/>
              </a:rPr>
              <a:t>Pull Request en GitHub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5029200"/>
            <a:ext cx="3291840" cy="5486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5029200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⚡  DEMO EN VIVO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120640" cy="73152"/>
          </a:xfrm>
          <a:prstGeom prst="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4592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1567F"/>
                </a:solidFill>
                <a:latin typeface="Calibri"/>
              </a:rPr>
              <a:t>Caso 2: Automated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8600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29B5E8"/>
                </a:solidFill>
                <a:latin typeface="Calibri"/>
              </a:rPr>
              <a:t>•  </a:t>
            </a:r>
            <a:r>
              <a:rPr sz="1500">
                <a:solidFill>
                  <a:srgbClr val="5B5B5B"/>
                </a:solidFill>
                <a:latin typeface="Calibri"/>
              </a:rPr>
              <a:t>Auto-generacion de tests desde historias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29B5E8"/>
                </a:solidFill>
                <a:latin typeface="Calibri"/>
              </a:rPr>
              <a:t>•  </a:t>
            </a:r>
            <a:r>
              <a:rPr sz="1500">
                <a:solidFill>
                  <a:srgbClr val="5B5B5B"/>
                </a:solidFill>
                <a:latin typeface="Calibri"/>
              </a:rPr>
              <a:t>Validacion cruzada DEV vs PRD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29B5E8"/>
                </a:solidFill>
                <a:latin typeface="Calibri"/>
              </a:rPr>
              <a:t>•  </a:t>
            </a:r>
            <a:r>
              <a:rPr sz="1500">
                <a:solidFill>
                  <a:srgbClr val="5B5B5B"/>
                </a:solidFill>
                <a:latin typeface="Calibri"/>
              </a:rPr>
              <a:t>Comparacion de datasets (data_diff)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29B5E8"/>
                </a:solidFill>
                <a:latin typeface="Calibri"/>
              </a:rPr>
              <a:t>•  </a:t>
            </a:r>
            <a:r>
              <a:rPr sz="1500">
                <a:solidFill>
                  <a:srgbClr val="5B5B5B"/>
                </a:solidFill>
                <a:latin typeface="Calibri"/>
              </a:rPr>
              <a:t>Evidencia + trazabilidad en PRs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5029200"/>
            <a:ext cx="3291840" cy="548640"/>
          </a:xfrm>
          <a:prstGeom prst="roundRect">
            <a:avLst/>
          </a:prstGeom>
          <a:solidFill>
            <a:srgbClr val="8A9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5029200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CONCEPTUAL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567F"/>
                </a:solidFill>
                <a:latin typeface="Calibri"/>
              </a:rPr>
              <a:t>Caso 1: Business-to-Engineering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A999E"/>
                </a:solidFill>
                <a:latin typeface="Calibri"/>
              </a:rPr>
              <a:t>De requerimiento de negocio a codigo en produccion, con trazabilidad completa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377440" cy="30175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3774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2103120"/>
            <a:ext cx="640080" cy="6400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2103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1567F"/>
                </a:solidFill>
                <a:latin typeface="Calibri"/>
              </a:rPr>
              <a:t>User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57600"/>
            <a:ext cx="2103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B5B5B"/>
                </a:solidFill>
                <a:latin typeface="Calibri"/>
              </a:rPr>
              <a:t>Texto libre del negocio
entra como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01752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29B5E8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828800"/>
            <a:ext cx="2377440" cy="30175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828800"/>
            <a:ext cx="23774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69080" y="2103120"/>
            <a:ext cx="640080" cy="6400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926080"/>
            <a:ext cx="2103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1567F"/>
                </a:solidFill>
                <a:latin typeface="Calibri"/>
              </a:rPr>
              <a:t>Refinamiento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657600"/>
            <a:ext cx="2103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B5B5B"/>
                </a:solidFill>
                <a:latin typeface="Calibri"/>
              </a:rPr>
              <a:t>Cortex Code refina con
criterios de aceptacion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01752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29B5E8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828800"/>
            <a:ext cx="2377440" cy="30175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1828800"/>
            <a:ext cx="23774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66560" y="2103120"/>
            <a:ext cx="640080" cy="6400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926080"/>
            <a:ext cx="2103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1567F"/>
                </a:solidFill>
                <a:latin typeface="Calibri"/>
              </a:rPr>
              <a:t>Historia Tecnica
+ 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657600"/>
            <a:ext cx="2103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B5B5B"/>
                </a:solidFill>
                <a:latin typeface="Calibri"/>
              </a:rPr>
              <a:t>Genera queries validados
contra Snowflake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01752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29B5E8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1828800"/>
            <a:ext cx="2377440" cy="30175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41080" y="1828800"/>
            <a:ext cx="2377440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64040" y="2103120"/>
            <a:ext cx="640080" cy="6400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926080"/>
            <a:ext cx="2103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1567F"/>
                </a:solidFill>
                <a:latin typeface="Calibri"/>
              </a:rPr>
              <a:t>PR en GitHub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657600"/>
            <a:ext cx="2103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B5B5B"/>
                </a:solidFill>
                <a:latin typeface="Calibri"/>
              </a:rPr>
              <a:t>Crea branch, commit y
Pull Request automatico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A999E"/>
                </a:solidFill>
                <a:latin typeface="Calibri"/>
              </a:rPr>
              <a:t>Capacidades:  #TABLE syntax  •  Custom Skills  •  SQL Execute  •  gh CLI  •  cortex ctx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71D3DC"/>
                </a:solidFill>
                <a:latin typeface="Calibri"/>
              </a:rPr>
              <a:t>User Story  →  Refinamiento  →  SQL + Tests  →  Pull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4114800"/>
            <a:ext cx="2743200" cy="457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8A999E"/>
                </a:solidFill>
                <a:latin typeface="Calibri"/>
              </a:rPr>
              <a:t>BELCORP_ANALYTICS.COMERCIAL  •  Cortex Code CLI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567F"/>
                </a:solidFill>
                <a:latin typeface="Calibri"/>
              </a:rPr>
              <a:t>Caso 2: Automated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A999E"/>
                </a:solidFill>
                <a:latin typeface="Calibri"/>
              </a:rPr>
              <a:t>Validacion automatizada entre ambientes con trazabilidad completa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377440" cy="34747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377440" cy="54864"/>
          </a:xfrm>
          <a:prstGeom prst="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2057400"/>
            <a:ext cx="640080" cy="6400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2103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1567F"/>
                </a:solidFill>
                <a:latin typeface="Calibri"/>
              </a:rPr>
              <a:t>Auto-generacion
de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57600"/>
            <a:ext cx="2103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5B5B"/>
                </a:solidFill>
                <a:latin typeface="Calibri"/>
              </a:rPr>
              <a:t>Cortex Code analiza la historia
tecnica y genera casos de prueba
SQL automaticamente:
integridad, NULLs, rangos, logica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01752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9F36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828800"/>
            <a:ext cx="2377440" cy="34747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828800"/>
            <a:ext cx="2377440" cy="54864"/>
          </a:xfrm>
          <a:prstGeom prst="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69080" y="2057400"/>
            <a:ext cx="640080" cy="6400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834640"/>
            <a:ext cx="2103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1567F"/>
                </a:solidFill>
                <a:latin typeface="Calibri"/>
              </a:rPr>
              <a:t>Validacion Cruzada
DEV vs PRD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657600"/>
            <a:ext cx="2103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5B5B"/>
                </a:solidFill>
                <a:latin typeface="Calibri"/>
              </a:rPr>
              <a:t>Multi-conexion Snowflake
(connections.toml) ejecuta los
mismos tests en ambientes
diferentes y compara resultados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01752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9F36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828800"/>
            <a:ext cx="2377440" cy="34747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1828800"/>
            <a:ext cx="2377440" cy="54864"/>
          </a:xfrm>
          <a:prstGeom prst="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66560" y="2057400"/>
            <a:ext cx="640080" cy="6400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834640"/>
            <a:ext cx="2103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1567F"/>
                </a:solidFill>
                <a:latin typeface="Calibri"/>
              </a:rPr>
              <a:t>Comparacion de
Datasets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657600"/>
            <a:ext cx="2103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5B5B"/>
                </a:solidFill>
                <a:latin typeface="Calibri"/>
              </a:rPr>
              <a:t>data_diff compara tablas entre
esquemas: filas agregadas,
eliminadas, valores modificados,
diferencias de schema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01752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9F36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1828800"/>
            <a:ext cx="2377440" cy="34747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41080" y="1828800"/>
            <a:ext cx="2377440" cy="54864"/>
          </a:xfrm>
          <a:prstGeom prst="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64040" y="2057400"/>
            <a:ext cx="640080" cy="6400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834640"/>
            <a:ext cx="2103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1567F"/>
                </a:solidFill>
                <a:latin typeface="Calibri"/>
              </a:rPr>
              <a:t>Evidencia +
Trazabilidad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657600"/>
            <a:ext cx="2103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5B5B"/>
                </a:solidFill>
                <a:latin typeface="Calibri"/>
              </a:rPr>
              <a:t>Resultados se documentan
automaticamente en el Pull
Request de GitHub via gh CLI.
Historia → Tests → Evidencia → PR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A999E"/>
                </a:solidFill>
                <a:latin typeface="Calibri"/>
              </a:rPr>
              <a:t>Capacidades:  Multi-conexion  •  data_diff  •  SQL Execute  •  gh CLI  •  Custom Skills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nowflake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65760"/>
            <a:ext cx="2011680" cy="4596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Extensibilidad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1D3DC"/>
                </a:solidFill>
                <a:latin typeface="Calibri"/>
              </a:rPr>
              <a:t>Cortex Code se conecta a todo el ecosistema de desarrollo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3291840"/>
          </a:xfrm>
          <a:prstGeom prst="roundRect">
            <a:avLst/>
          </a:prstGeom>
          <a:solidFill>
            <a:srgbClr val="004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9B5E8"/>
                </a:solidFill>
                <a:latin typeface="Calibri"/>
              </a:rPr>
              <a:t>MCP Servers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2834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1D3DC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Jira: importar historias de usuario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1D3DC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Confluence: leer documentacion tecnica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1D3DC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GitHub: gestion completa de repos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1D3DC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PostgreSQL, Filesystem, APIs custom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3383280" cy="3291840"/>
          </a:xfrm>
          <a:prstGeom prst="roundRect">
            <a:avLst/>
          </a:prstGeom>
          <a:solidFill>
            <a:srgbClr val="004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01168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9B5E8"/>
                </a:solidFill>
                <a:latin typeface="Calibri"/>
              </a:rPr>
              <a:t>Custom Skills +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560320"/>
            <a:ext cx="2834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1D3DC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Skills .md para estandarizar flujos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1D3DC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Agentes custom para tareas especializadas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1D3DC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Hooks para validaciones automaticas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1D3DC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Integracion con CI/CD pipelines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8" y="1828800"/>
            <a:ext cx="3383280" cy="3291840"/>
          </a:xfrm>
          <a:prstGeom prst="roundRect">
            <a:avLst/>
          </a:prstGeom>
          <a:solidFill>
            <a:srgbClr val="004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8" y="201168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9B5E8"/>
                </a:solidFill>
                <a:latin typeface="Calibri"/>
              </a:rPr>
              <a:t>Snowflake Nativo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8" y="2560320"/>
            <a:ext cx="2834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1D3DC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Cortex Analyst: NL → SQL via semantic models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1D3DC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Semantic Views: modelos de datos curados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1D3DC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Multi-conexion: DEV / QA / PRD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1D3DC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data_diff: comparacion de datasets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669280"/>
            <a:ext cx="12191695" cy="1188720"/>
          </a:xfrm>
          <a:prstGeom prst="rect">
            <a:avLst/>
          </a:prstGeom>
          <a:solidFill>
            <a:srgbClr val="00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852160"/>
            <a:ext cx="7315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¿Preguntas?  •  Siguiente paso: POC con sus datos reales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3093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999E"/>
                </a:solidFill>
                <a:latin typeface="Calibri"/>
              </a:rPr>
              <a:t>© 2025 Snowflake Inc.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